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Average Salary by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IC</c:v>
                </c:pt>
                <c:pt idx="1">
                  <c:v>MM</c:v>
                </c:pt>
                <c:pt idx="2">
                  <c:v>D</c:v>
                </c:pt>
                <c:pt idx="3">
                  <c:v>VP</c:v>
                </c:pt>
                <c:pt idx="4">
                  <c:v>E</c:v>
                </c:pt>
                <c:pt idx="5">
                  <c:v>CEO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187895</c:v>
                </c:pt>
                <c:pt idx="1">
                  <c:v>192474</c:v>
                </c:pt>
                <c:pt idx="2">
                  <c:v>213302</c:v>
                </c:pt>
                <c:pt idx="3">
                  <c:v>258029</c:v>
                </c:pt>
                <c:pt idx="4">
                  <c:v>562500</c:v>
                </c:pt>
                <c:pt idx="5">
                  <c:v>700000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Average Salary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HR</c:v>
                </c:pt>
                <c:pt idx="1">
                  <c:v>Marketing</c:v>
                </c:pt>
                <c:pt idx="2">
                  <c:v>Sales</c:v>
                </c:pt>
                <c:pt idx="3">
                  <c:v>Engineering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84560</c:v>
                </c:pt>
                <c:pt idx="1">
                  <c:v>194623</c:v>
                </c:pt>
                <c:pt idx="2">
                  <c:v>194342</c:v>
                </c:pt>
                <c:pt idx="3">
                  <c:v>243525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 on salary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Executive (vs. Director)</c:v>
                </c:pt>
                <c:pt idx="1">
                  <c:v>Engineering dept (vs. HR)</c:v>
                </c:pt>
                <c:pt idx="2">
                  <c:v>Sales dept (vs. HR)</c:v>
                </c:pt>
                <c:pt idx="3">
                  <c:v>Marketing dept (vs. HR)</c:v>
                </c:pt>
                <c:pt idx="4">
                  <c:v>Vice President (vs. Director)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354841</c:v>
                </c:pt>
                <c:pt idx="1">
                  <c:v>159643</c:v>
                </c:pt>
                <c:pt idx="2">
                  <c:v>110421</c:v>
                </c:pt>
                <c:pt idx="3">
                  <c:v>110418</c:v>
                </c:pt>
                <c:pt idx="4">
                  <c:v>41777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Male minus Female average salary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vs. reference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Raw gap
(unadjusted)</c:v>
                </c:pt>
                <c:pt idx="1">
                  <c:v>Adjusted gap
(same level &amp; dept)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27562</c:v>
                </c:pt>
                <c:pt idx="1">
                  <c:v>-703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% of each sex working in each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C043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Marketing</c:v>
                </c:pt>
                <c:pt idx="2">
                  <c:v>Sales</c:v>
                </c:pt>
                <c:pt idx="3">
                  <c:v>HR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18.8</c:v>
                </c:pt>
                <c:pt idx="1">
                  <c:v>18.3</c:v>
                </c:pt>
                <c:pt idx="2">
                  <c:v>33.2</c:v>
                </c:pt>
                <c:pt idx="3">
                  <c:v>29.7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Marketing</c:v>
                </c:pt>
                <c:pt idx="2">
                  <c:v>Sales</c:v>
                </c:pt>
                <c:pt idx="3">
                  <c:v>HR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31.4</c:v>
                </c:pt>
                <c:pt idx="1">
                  <c:v>21.1</c:v>
                </c:pt>
                <c:pt idx="2">
                  <c:v>37.6</c:v>
                </c:pt>
                <c:pt idx="3">
                  <c:v>9.9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Average years of experience to reach each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C043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IC</c:v>
                </c:pt>
                <c:pt idx="1">
                  <c:v>MM</c:v>
                </c:pt>
                <c:pt idx="2">
                  <c:v>D</c:v>
                </c:pt>
                <c:pt idx="3">
                  <c:v>VP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</c:v>
                </c:pt>
                <c:pt idx="1">
                  <c:v>8.2</c:v>
                </c:pt>
                <c:pt idx="2">
                  <c:v>16.5</c:v>
                </c:pt>
                <c:pt idx="3">
                  <c:v>25.6</c:v>
                </c:pt>
                <c:pt idx="4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IC</c:v>
                </c:pt>
                <c:pt idx="1">
                  <c:v>MM</c:v>
                </c:pt>
                <c:pt idx="2">
                  <c:v>D</c:v>
                </c:pt>
                <c:pt idx="3">
                  <c:v>VP</c:v>
                </c:pt>
                <c:pt idx="4">
                  <c:v>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3.2</c:v>
                </c:pt>
                <c:pt idx="1">
                  <c:v>7.6</c:v>
                </c:pt>
                <c:pt idx="2">
                  <c:v>12.9</c:v>
                </c:pt>
                <c:pt idx="3">
                  <c:v>19</c:v>
                </c:pt>
                <c:pt idx="4">
                  <c:v>25.3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DIVERSITY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Levels, Compensation, and Pay Equity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Head of HR   •   July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employees analyzed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Finding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real 14% pay gap between men and women. But it isn't a same-job pay problem — it's a representation and promotion problem that shows up downstream as a pay gap.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$27,562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pay gap (men earn more)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 higher • statistically significant, p &lt; 0.001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606040"/>
            <a:ext cx="457200" cy="457200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–$703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617720" y="4069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gap, same level &amp; dept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significant, p = 0.65 — pay is fair for equal roles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7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606040"/>
            <a:ext cx="457200" cy="457200"/>
          </a:xfrm>
          <a:prstGeom prst="rect">
            <a:avLst/>
          </a:prstGeom>
          <a:solidFill>
            <a:srgbClr val="C043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18.8% vs 31.4%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458200" y="40690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vs. men in Engineering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6634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highest-paying department, p &lt; 0.001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tables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0992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company_hierarchy (employee, boss, department) and employee (salary, degree, sex, experience, signing bonus) — 10,000 employees, no missing or duplicate records.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derived from the org chart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12280" y="170992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levels built bottom-up from reporting lines: IC → MM → D → VP → E → CEO.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modeled with OLS regression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4015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directly in numpy (no internet access for scikit-learn/statsmodels in this environment); significance from the normal approximation, accurate at n ≈ 10,000.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tested, not assumed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34015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raw pay gaps to gaps after controlling for level, department, degree, experience, and tenure.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Levels, One Pyramid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10,000-person company at each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498476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7498476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47116" y="1737360"/>
            <a:ext cx="666531" cy="822960"/>
          </a:xfrm>
          <a:prstGeom prst="rect">
            <a:avLst/>
          </a:prstGeom>
          <a:solidFill>
            <a:srgbClr val="9FB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7116" y="1737360"/>
            <a:ext cx="666531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713647" y="1737360"/>
            <a:ext cx="610508" cy="822960"/>
          </a:xfrm>
          <a:prstGeom prst="rect">
            <a:avLst/>
          </a:prstGeom>
          <a:solidFill>
            <a:srgbClr val="5B6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13647" y="1737360"/>
            <a:ext cx="610508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4156" y="1737360"/>
            <a:ext cx="6105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4156" y="1737360"/>
            <a:ext cx="610508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934664" y="1737360"/>
            <a:ext cx="610508" cy="822960"/>
          </a:xfrm>
          <a:prstGeom prst="rect">
            <a:avLst/>
          </a:prstGeom>
          <a:solidFill>
            <a:srgbClr val="141B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34664" y="1737360"/>
            <a:ext cx="610508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45172" y="1737360"/>
            <a:ext cx="610508" cy="82296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45172" y="1737360"/>
            <a:ext cx="610508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33472"/>
            <a:ext cx="74984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7116" y="2633472"/>
            <a:ext cx="66653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13647" y="2633472"/>
            <a:ext cx="6105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4156" y="2633472"/>
            <a:ext cx="6105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34664" y="2633472"/>
            <a:ext cx="6105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45172" y="2633472"/>
            <a:ext cx="6105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= Individual Contributor   •   MM = Middle Manager   •   D = Director   •   VP = Vice President   •   E = Executive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are defined recursively from the reporting hierarchy: an IC manages no one; each level up manages only people from the level directly below it.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of Control (direct + indirect reports)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7863840" cy="173736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8595360" y="5074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the CEO manages 9,999 people — everyone else in the company.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Salary?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and department dominate; tenure, degree, and signing bonus barely matter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= Individual Contributor   •   MM = Middle Manager   •   D = Director   •   VP = Vice President   •   E = Executive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Salary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each factor on salary, holding everything else constant  (R² = 0.35, n = 9,999)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955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172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Contributors and Middle Managers earn $16,000–$19,000 less than Directors (p &lt; 0.01) — a modest, expected step down the ladder, not shown above to keep the scale readable.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595360" y="1463040"/>
            <a:ext cx="3063240" cy="4709160"/>
          </a:xfrm>
          <a:prstGeom prst="roundRect">
            <a:avLst>
              <a:gd name="adj" fmla="val 2388"/>
            </a:avLst>
          </a:prstGeom>
          <a:solidFill>
            <a:srgbClr val="F5F7FB"/>
          </a:solidFill>
          <a:ln/>
        </p:spPr>
      </p:sp>
      <p:sp>
        <p:nvSpPr>
          <p:cNvPr id="7" name="Text 4"/>
          <p:cNvSpPr/>
          <p:nvPr/>
        </p:nvSpPr>
        <p:spPr>
          <a:xfrm>
            <a:off x="882396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employee: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2396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HR dept, High School diploma, Female, 0 yrs experience, no signing bonus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823960" y="2880360"/>
            <a:ext cx="26517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23960" y="33101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and department, all p &lt; 0.01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23960" y="3794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23960" y="408736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Degree, tenure, signing bonus, and sex — all p ≥ 0.13. Sex in particular: p = 0.65.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823960" y="5029200"/>
            <a:ext cx="26517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23960" y="5166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level + department set pay. Once you're in a role, sex does not move the needle.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 Gap, Explained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raw gap that (almost) fully disappears once level and department are held constant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55448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$27,562 gap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80960" y="2286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significant, p &lt; 0.001 — men earn 14.0% more on average, company-wide.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52360" y="374904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–$703 gap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80960" y="42976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significant, p = 0.65 — no detectable pay difference for the same level and department.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Gap: Representation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concentrated in the lowest-paying department and scarce in the highest-paying one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463040"/>
            <a:ext cx="3154680" cy="219456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62763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(highest pay: $243,525 avg)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194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 women  vs.  31.4% men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32520" y="25603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3977640"/>
            <a:ext cx="3154680" cy="219456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414223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(lowest pay: $84,560 avg)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732520" y="47091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 women  vs.  9.9% men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50749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Slower Path to the Top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who reach senior levels have needed more tenure to get there than men at the same level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406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= Individual Contributor   •   MM = Middle Manager   •   D = Director   •   VP = Vice President   •   E = Executive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0" y="14630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5F7FB"/>
          </a:solidFill>
          <a:ln/>
        </p:spPr>
      </p:sp>
      <p:sp>
        <p:nvSpPr>
          <p:cNvPr id="7" name="Text 4"/>
          <p:cNvSpPr/>
          <p:nvPr/>
        </p:nvSpPr>
        <p:spPr>
          <a:xfrm>
            <a:off x="8458200" y="16276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level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2011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 yrs (women)  vs.  12.9 yrs (men)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40233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5F7FB"/>
          </a:solidFill>
          <a:ln/>
        </p:spPr>
      </p:sp>
      <p:sp>
        <p:nvSpPr>
          <p:cNvPr id="10" name="Text 7"/>
          <p:cNvSpPr/>
          <p:nvPr/>
        </p:nvSpPr>
        <p:spPr>
          <a:xfrm>
            <a:off x="8458200" y="41879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President level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58200" y="45720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 yrs (women)  vs.  19.0 yrs (men)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58200" y="5212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also hold only 1.60% of Director+ roles, vs. 2.21% for men (p = 0.038).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the Head of HR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533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stop at “equal pay for equal role.”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71907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 model looks fair — but that finding can mask a structural issue: who gets into which department, and who gets promoted.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32257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Engineering pipeline.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68833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hiring, transfer, and retention funnels into the highest-paying department.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291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promotion timelines and criteria.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657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calibration and manager decisions for bias; track time-to-promotion by sex and level.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426110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representation targets and monitor over time.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6268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department mix and leadership representation on a recurring cadence, not a one-time check.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523036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and repeat the analysis.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55961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protected characteristics as data allows, and re-run periodically to track progress.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is fair for equal roles. Representation and promotion speed are where the company should focus next.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2026-07-13T17:39:00Z</dcterms:created>
  <dcterms:modified xsi:type="dcterms:W3CDTF">2026-07-13T17:39:00Z</dcterms:modified>
</cp:coreProperties>
</file>